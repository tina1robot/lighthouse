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7150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Sinton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inton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intony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6fd8ccc017_1_14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6fd8ccc017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f4fd86d6a3_0_80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f4fd86d6a3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76b4e5029c_0_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76b4e502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6fd8ccc017_1_2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6fd8ccc01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6fd8ccc017_0_12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6fd8ccc01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6fd8ccc017_0_43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6fd8ccc017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747340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714374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130515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321028"/>
            <a:ext cx="5783400" cy="16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388278"/>
            <a:ext cx="57834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3130515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961056"/>
            <a:ext cx="8222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400315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508917"/>
            <a:ext cx="8368200" cy="7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655360"/>
            <a:ext cx="8368200" cy="3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400315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508917"/>
            <a:ext cx="8368200" cy="7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655361"/>
            <a:ext cx="3999900" cy="3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655361"/>
            <a:ext cx="3999900" cy="3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508917"/>
            <a:ext cx="8368200" cy="7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56919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771139"/>
            <a:ext cx="2808000" cy="29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84833"/>
            <a:ext cx="56187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83"/>
            <a:ext cx="4572000" cy="571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9950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343417"/>
            <a:ext cx="4045200" cy="16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3076668"/>
            <a:ext cx="4045200" cy="14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704139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640917"/>
            <a:ext cx="9143700" cy="7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280500"/>
            <a:ext cx="8368200" cy="17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3243833"/>
            <a:ext cx="83682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0" y="3523958"/>
            <a:ext cx="9144000" cy="2203453"/>
          </a:xfrm>
          <a:custGeom>
            <a:rect b="b" l="l" r="r" t="t"/>
            <a:pathLst>
              <a:path extrusionOk="0" h="144631" w="487680">
                <a:moveTo>
                  <a:pt x="0" y="144631"/>
                </a:moveTo>
                <a:lnTo>
                  <a:pt x="487680" y="144033"/>
                </a:lnTo>
                <a:lnTo>
                  <a:pt x="487680" y="0"/>
                </a:lnTo>
                <a:lnTo>
                  <a:pt x="0" y="759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5" y="827313"/>
            <a:ext cx="49575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149025"/>
            <a:ext cx="49575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4800" lIns="94800" spcFirstLastPara="1" rIns="94800" wrap="square" tIns="94800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7306369" y="106288"/>
            <a:ext cx="1741950" cy="1913012"/>
            <a:chOff x="325900" y="96175"/>
            <a:chExt cx="2322600" cy="2295706"/>
          </a:xfrm>
        </p:grpSpPr>
        <p:sp>
          <p:nvSpPr>
            <p:cNvPr id="65" name="Google Shape;65;p13"/>
            <p:cNvSpPr/>
            <p:nvPr/>
          </p:nvSpPr>
          <p:spPr>
            <a:xfrm>
              <a:off x="325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25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25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25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25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5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5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25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25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25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25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25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25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25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4783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4783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4783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4783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4783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4783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4783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4783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4783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4783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4783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4783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4783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783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4783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307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307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307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07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307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307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6307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6307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6307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6307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6307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307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6307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6307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307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7831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7831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7831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7831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7831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7831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7831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7831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7831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7831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7831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7831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7831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7831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7831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9355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9355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9355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9355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9355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9355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9355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9355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9355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9355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9355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9355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9355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9355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9355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1087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1087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087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1087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87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1087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1087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1087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1087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1087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1087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1087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1087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087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1087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12403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12403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2403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12403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12403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12403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12403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12403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12403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12403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2403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12403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12403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12403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12403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13927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13927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13927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13927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13927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13927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13927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13927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13927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13927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13927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13927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3927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3927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3927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15451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5451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15451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15451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15451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15451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15451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15451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15451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15451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15451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15451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15451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15451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5451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16975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16975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16975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16975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6975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16975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16975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6975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6975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16975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16975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16975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16975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16975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16975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1849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1849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1849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1849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1849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1849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849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1849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849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1849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1849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1849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849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1849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1849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20023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20023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20023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20023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0023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20023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20023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20023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20023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20023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20023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0023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20023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20023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20023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21547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21547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21547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21547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21547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1547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21547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21547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21547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21547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21547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21547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21547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21547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21547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23071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23071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23071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23071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23071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23071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23071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23071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23071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23071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23071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23071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23071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23071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23071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24595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24595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24595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24595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24595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24595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24595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24595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24595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24595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24595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24595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24595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24595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24595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2611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2611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2611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2611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2611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2611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2611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2611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2611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2611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2611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2611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2611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2611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2611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">
  <p:cSld name="CUSTOM_3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4800" lIns="94800" spcFirstLastPara="1" rIns="94800" wrap="square" tIns="94800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14"/>
          <p:cNvSpPr txBox="1"/>
          <p:nvPr>
            <p:ph type="title"/>
          </p:nvPr>
        </p:nvSpPr>
        <p:spPr>
          <a:xfrm>
            <a:off x="440513" y="494479"/>
            <a:ext cx="6297900" cy="6363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14"/>
          <p:cNvSpPr txBox="1"/>
          <p:nvPr>
            <p:ph idx="1" type="body"/>
          </p:nvPr>
        </p:nvSpPr>
        <p:spPr>
          <a:xfrm>
            <a:off x="440513" y="1459146"/>
            <a:ext cx="3936300" cy="37959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/>
          </a:bodyPr>
          <a:lstStyle>
            <a:lvl1pPr indent="-3492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09" name="Google Shape;309;p14"/>
          <p:cNvSpPr txBox="1"/>
          <p:nvPr>
            <p:ph idx="2" type="body"/>
          </p:nvPr>
        </p:nvSpPr>
        <p:spPr>
          <a:xfrm>
            <a:off x="4767113" y="1459146"/>
            <a:ext cx="3936300" cy="37959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/>
          </a:bodyPr>
          <a:lstStyle>
            <a:lvl1pPr indent="-3492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Char char="■"/>
              <a:defRPr sz="1900"/>
            </a:lvl9pPr>
          </a:lstStyle>
          <a:p/>
        </p:txBody>
      </p:sp>
      <p:grpSp>
        <p:nvGrpSpPr>
          <p:cNvPr id="310" name="Google Shape;310;p14"/>
          <p:cNvGrpSpPr/>
          <p:nvPr/>
        </p:nvGrpSpPr>
        <p:grpSpPr>
          <a:xfrm>
            <a:off x="7306369" y="106288"/>
            <a:ext cx="1741950" cy="1913012"/>
            <a:chOff x="325900" y="96175"/>
            <a:chExt cx="2322600" cy="2295706"/>
          </a:xfrm>
        </p:grpSpPr>
        <p:sp>
          <p:nvSpPr>
            <p:cNvPr id="311" name="Google Shape;311;p14"/>
            <p:cNvSpPr/>
            <p:nvPr/>
          </p:nvSpPr>
          <p:spPr>
            <a:xfrm>
              <a:off x="325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25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325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325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325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325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325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325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325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325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325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325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325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325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325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4783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4783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4783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4783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4783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4783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4783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4783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4783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4783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4783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4783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4783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4783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4783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307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6307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6307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6307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307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307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307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307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6307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307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307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307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307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307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6307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7831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7831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7831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7831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7831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831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7831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7831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7831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7831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7831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7831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7831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7831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7831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9355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9355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9355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9355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9355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9355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9355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9355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9355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9355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9355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9355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9355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9355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9355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1087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1087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1087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1087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1087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1087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1087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1087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1087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1087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1087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1087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1087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1087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1087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12403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12403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12403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12403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12403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12403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12403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12403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12403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12403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12403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12403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12403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12403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12403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13927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13927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13927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13927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13927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13927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13927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13927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13927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13927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13927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13927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13927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13927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13927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15451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15451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15451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15451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15451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15451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4"/>
            <p:cNvSpPr/>
            <p:nvPr/>
          </p:nvSpPr>
          <p:spPr>
            <a:xfrm>
              <a:off x="15451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15451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15451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15451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15451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15451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15451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15451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15451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16975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16975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16975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16975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16975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16975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16975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16975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16975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16975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16975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16975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16975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16975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16975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1849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1849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1849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849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1849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1849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1849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1849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1849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1849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1849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1849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1849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1849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1849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20023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20023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20023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20023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20023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20023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20023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20023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20023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20023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20023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20023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20023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20023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20023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21547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21547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21547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21547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21547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21547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21547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21547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21547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21547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21547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21547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21547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4"/>
            <p:cNvSpPr/>
            <p:nvPr/>
          </p:nvSpPr>
          <p:spPr>
            <a:xfrm>
              <a:off x="21547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21547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4"/>
            <p:cNvSpPr/>
            <p:nvPr/>
          </p:nvSpPr>
          <p:spPr>
            <a:xfrm>
              <a:off x="23071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23071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4"/>
            <p:cNvSpPr/>
            <p:nvPr/>
          </p:nvSpPr>
          <p:spPr>
            <a:xfrm>
              <a:off x="23071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4"/>
            <p:cNvSpPr/>
            <p:nvPr/>
          </p:nvSpPr>
          <p:spPr>
            <a:xfrm>
              <a:off x="23071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4"/>
            <p:cNvSpPr/>
            <p:nvPr/>
          </p:nvSpPr>
          <p:spPr>
            <a:xfrm>
              <a:off x="23071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23071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4"/>
            <p:cNvSpPr/>
            <p:nvPr/>
          </p:nvSpPr>
          <p:spPr>
            <a:xfrm>
              <a:off x="23071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4"/>
            <p:cNvSpPr/>
            <p:nvPr/>
          </p:nvSpPr>
          <p:spPr>
            <a:xfrm>
              <a:off x="23071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23071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23071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23071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23071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23071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23071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23071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24595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24595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4"/>
            <p:cNvSpPr/>
            <p:nvPr/>
          </p:nvSpPr>
          <p:spPr>
            <a:xfrm>
              <a:off x="24595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24595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24595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24595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24595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4"/>
            <p:cNvSpPr/>
            <p:nvPr/>
          </p:nvSpPr>
          <p:spPr>
            <a:xfrm>
              <a:off x="24595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4"/>
            <p:cNvSpPr/>
            <p:nvPr/>
          </p:nvSpPr>
          <p:spPr>
            <a:xfrm>
              <a:off x="24595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24595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24595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4"/>
            <p:cNvSpPr/>
            <p:nvPr/>
          </p:nvSpPr>
          <p:spPr>
            <a:xfrm>
              <a:off x="24595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4"/>
            <p:cNvSpPr/>
            <p:nvPr/>
          </p:nvSpPr>
          <p:spPr>
            <a:xfrm>
              <a:off x="24595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4"/>
            <p:cNvSpPr/>
            <p:nvPr/>
          </p:nvSpPr>
          <p:spPr>
            <a:xfrm>
              <a:off x="24595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24595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2611900" y="96175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2611900" y="257540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4"/>
            <p:cNvSpPr/>
            <p:nvPr/>
          </p:nvSpPr>
          <p:spPr>
            <a:xfrm>
              <a:off x="2611900" y="41890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2611900" y="58026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2611900" y="741634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4"/>
            <p:cNvSpPr/>
            <p:nvPr/>
          </p:nvSpPr>
          <p:spPr>
            <a:xfrm>
              <a:off x="2611900" y="902999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2611900" y="106436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4"/>
            <p:cNvSpPr/>
            <p:nvPr/>
          </p:nvSpPr>
          <p:spPr>
            <a:xfrm>
              <a:off x="2611900" y="1225728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2611900" y="1387093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4"/>
            <p:cNvSpPr/>
            <p:nvPr/>
          </p:nvSpPr>
          <p:spPr>
            <a:xfrm>
              <a:off x="2611900" y="154845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2611900" y="1709822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4"/>
            <p:cNvSpPr/>
            <p:nvPr/>
          </p:nvSpPr>
          <p:spPr>
            <a:xfrm>
              <a:off x="2611900" y="1871187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2611900" y="203255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2611900" y="2193916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4"/>
            <p:cNvSpPr/>
            <p:nvPr/>
          </p:nvSpPr>
          <p:spPr>
            <a:xfrm>
              <a:off x="2611900" y="2355281"/>
              <a:ext cx="36600" cy="36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CUSTOM_4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4800" lIns="94800" spcFirstLastPara="1" rIns="94800" wrap="square" tIns="94800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1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54" name="Google Shape;554;p15"/>
          <p:cNvSpPr txBox="1"/>
          <p:nvPr>
            <p:ph idx="1" type="subTitle"/>
          </p:nvPr>
        </p:nvSpPr>
        <p:spPr>
          <a:xfrm>
            <a:off x="215606" y="5069479"/>
            <a:ext cx="5528100" cy="5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2">
    <p:bg>
      <p:bgPr>
        <a:solidFill>
          <a:schemeClr val="accen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"/>
          <p:cNvSpPr txBox="1"/>
          <p:nvPr>
            <p:ph type="title"/>
          </p:nvPr>
        </p:nvSpPr>
        <p:spPr>
          <a:xfrm>
            <a:off x="311703" y="936250"/>
            <a:ext cx="8520900" cy="39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0000"/>
            </a:lvl9pPr>
          </a:lstStyle>
          <a:p/>
        </p:txBody>
      </p:sp>
      <p:sp>
        <p:nvSpPr>
          <p:cNvPr id="557" name="Google Shape;557;p1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4800" lIns="94800" spcFirstLastPara="1" rIns="94800" wrap="square" tIns="94800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8" name="Google Shape;558;p16"/>
          <p:cNvGrpSpPr/>
          <p:nvPr/>
        </p:nvGrpSpPr>
        <p:grpSpPr>
          <a:xfrm>
            <a:off x="57075" y="3705518"/>
            <a:ext cx="1741950" cy="1913012"/>
            <a:chOff x="325900" y="96175"/>
            <a:chExt cx="2322600" cy="2295706"/>
          </a:xfrm>
        </p:grpSpPr>
        <p:sp>
          <p:nvSpPr>
            <p:cNvPr id="559" name="Google Shape;559;p16"/>
            <p:cNvSpPr/>
            <p:nvPr/>
          </p:nvSpPr>
          <p:spPr>
            <a:xfrm>
              <a:off x="3259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259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259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259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259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259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259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259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259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259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259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259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259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259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259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4783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4783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4783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4783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4783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4783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4783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4783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4783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4783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4783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4783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4783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4783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4783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6307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6307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6307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6307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6307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6307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6307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6307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6307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6307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6307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6307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6307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6307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6307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7831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7831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7831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7831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7831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7831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7831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7831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7831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7831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7831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7831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7831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7831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7831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9355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9355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9355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9355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9355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9355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9355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9355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9355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9355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9355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9355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9355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9355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9355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10879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10879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10879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10879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0879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10879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10879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10879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10879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10879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10879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10879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10879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10879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10879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12403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12403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12403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12403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12403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12403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12403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12403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12403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12403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12403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12403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12403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12403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12403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13927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13927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13927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13927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13927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13927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13927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13927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13927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13927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13927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13927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13927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13927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13927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15451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15451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15451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15451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15451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15451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15451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15451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15451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15451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15451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15451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15451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15451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15451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16975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16975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16975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16975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16975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16975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16975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16975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16975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16975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16975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16975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16975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16975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16975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18499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18499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18499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18499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18499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18499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18499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18499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18499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18499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18499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18499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18499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18499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18499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20023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20023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20023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20023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20023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20023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20023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20023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20023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20023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20023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20023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20023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20023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20023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21547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21547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21547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21547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21547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21547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21547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21547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21547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21547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21547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21547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21547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21547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21547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23071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23071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23071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23071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23071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23071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23071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23071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23071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23071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23071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23071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23071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23071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23071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24595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24595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24595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24595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24595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24595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24595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24595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24595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24595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24595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24595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24595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24595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24595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2611900" y="96175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2611900" y="257540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2611900" y="41890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2611900" y="58026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2611900" y="741634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2611900" y="902999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2611900" y="106436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2611900" y="1225728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2611900" y="1387093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2611900" y="154845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2611900" y="1709822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2611900" y="1871187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611900" y="203255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2611900" y="2193916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2611900" y="2355281"/>
              <a:ext cx="36600" cy="366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508917"/>
            <a:ext cx="83682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655360"/>
            <a:ext cx="8368200" cy="3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mc:AlternateContent>
    <mc:Choice Requires="p14">
      <p:transition spd="slow" p14:dur="14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7"/>
          <p:cNvSpPr txBox="1"/>
          <p:nvPr>
            <p:ph type="ctrTitle"/>
          </p:nvPr>
        </p:nvSpPr>
        <p:spPr>
          <a:xfrm>
            <a:off x="311700" y="413650"/>
            <a:ext cx="6085800" cy="141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Georgia"/>
                <a:ea typeface="Georgia"/>
                <a:cs typeface="Georgia"/>
                <a:sym typeface="Georgia"/>
              </a:rPr>
              <a:t>Executive Summary for:</a:t>
            </a:r>
            <a:br>
              <a:rPr lang="en" sz="4000">
                <a:latin typeface="Georgia"/>
                <a:ea typeface="Georgia"/>
                <a:cs typeface="Georgia"/>
                <a:sym typeface="Georgia"/>
              </a:rPr>
            </a:br>
            <a:r>
              <a:rPr lang="en" sz="4000">
                <a:latin typeface="Georgia"/>
                <a:ea typeface="Georgia"/>
                <a:cs typeface="Georgia"/>
                <a:sym typeface="Georgia"/>
              </a:rPr>
              <a:t>Big Dog Craft Brewery Co.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4" name="Google Shape;804;p17"/>
          <p:cNvSpPr txBox="1"/>
          <p:nvPr>
            <p:ph idx="1" type="subTitle"/>
          </p:nvPr>
        </p:nvSpPr>
        <p:spPr>
          <a:xfrm>
            <a:off x="311700" y="1651625"/>
            <a:ext cx="46410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86">
                <a:latin typeface="Georgia"/>
                <a:ea typeface="Georgia"/>
                <a:cs typeface="Georgia"/>
                <a:sym typeface="Georgia"/>
              </a:rPr>
              <a:t>Cybersecurity Risk Assessment </a:t>
            </a:r>
            <a:endParaRPr i="1" sz="2086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05" name="Google Shape;805;p17"/>
          <p:cNvSpPr txBox="1"/>
          <p:nvPr/>
        </p:nvSpPr>
        <p:spPr>
          <a:xfrm>
            <a:off x="311700" y="2611333"/>
            <a:ext cx="43404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-2857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Current 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security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sensors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Key Findings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Recommendations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06" name="Google Shape;8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613" y="1651625"/>
            <a:ext cx="3331200" cy="3331200"/>
          </a:xfrm>
          <a:prstGeom prst="ellipse">
            <a:avLst/>
          </a:prstGeom>
          <a:noFill/>
          <a:ln>
            <a:noFill/>
          </a:ln>
          <a:effectLst>
            <a:outerShdw blurRad="514350" rotWithShape="0" algn="bl" dir="2760000" dist="114300">
              <a:srgbClr val="000000">
                <a:alpha val="89000"/>
              </a:srgbClr>
            </a:outerShdw>
          </a:effectLst>
        </p:spPr>
      </p:pic>
      <p:sp>
        <p:nvSpPr>
          <p:cNvPr id="807" name="Google Shape;807;p17"/>
          <p:cNvSpPr txBox="1"/>
          <p:nvPr/>
        </p:nvSpPr>
        <p:spPr>
          <a:xfrm>
            <a:off x="856125" y="4808375"/>
            <a:ext cx="35208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Christina McNeice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400">
        <p14:flip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8"/>
          <p:cNvSpPr txBox="1"/>
          <p:nvPr>
            <p:ph type="title"/>
          </p:nvPr>
        </p:nvSpPr>
        <p:spPr>
          <a:xfrm>
            <a:off x="1705275" y="213675"/>
            <a:ext cx="7240800" cy="6363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current sensors… part 1</a:t>
            </a:r>
            <a:endParaRPr/>
          </a:p>
        </p:txBody>
      </p:sp>
      <p:sp>
        <p:nvSpPr>
          <p:cNvPr id="813" name="Google Shape;813;p18"/>
          <p:cNvSpPr/>
          <p:nvPr/>
        </p:nvSpPr>
        <p:spPr>
          <a:xfrm>
            <a:off x="7212725" y="1517752"/>
            <a:ext cx="10974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14" name="Google Shape;814;p18"/>
          <p:cNvSpPr/>
          <p:nvPr/>
        </p:nvSpPr>
        <p:spPr>
          <a:xfrm>
            <a:off x="5959555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815" name="Google Shape;815;p18"/>
          <p:cNvSpPr/>
          <p:nvPr/>
        </p:nvSpPr>
        <p:spPr>
          <a:xfrm>
            <a:off x="4695690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16" name="Google Shape;816;p18"/>
          <p:cNvSpPr/>
          <p:nvPr/>
        </p:nvSpPr>
        <p:spPr>
          <a:xfrm>
            <a:off x="3431826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17" name="Google Shape;817;p18"/>
          <p:cNvSpPr/>
          <p:nvPr/>
        </p:nvSpPr>
        <p:spPr>
          <a:xfrm>
            <a:off x="2163761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18" name="Google Shape;818;p18"/>
          <p:cNvSpPr/>
          <p:nvPr/>
        </p:nvSpPr>
        <p:spPr>
          <a:xfrm>
            <a:off x="909620" y="1517752"/>
            <a:ext cx="10974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b="1"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19" name="Google Shape;819;p18"/>
          <p:cNvCxnSpPr/>
          <p:nvPr/>
        </p:nvCxnSpPr>
        <p:spPr>
          <a:xfrm flipH="1">
            <a:off x="897619" y="14391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20" name="Google Shape;820;p18"/>
          <p:cNvCxnSpPr/>
          <p:nvPr/>
        </p:nvCxnSpPr>
        <p:spPr>
          <a:xfrm flipH="1">
            <a:off x="2149074" y="14391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21" name="Google Shape;821;p18"/>
          <p:cNvCxnSpPr/>
          <p:nvPr/>
        </p:nvCxnSpPr>
        <p:spPr>
          <a:xfrm flipH="1">
            <a:off x="3423481" y="14391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22" name="Google Shape;822;p18"/>
          <p:cNvCxnSpPr/>
          <p:nvPr/>
        </p:nvCxnSpPr>
        <p:spPr>
          <a:xfrm flipH="1">
            <a:off x="4679708" y="16677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23" name="Google Shape;823;p18"/>
          <p:cNvCxnSpPr/>
          <p:nvPr/>
        </p:nvCxnSpPr>
        <p:spPr>
          <a:xfrm flipH="1">
            <a:off x="5952914" y="15153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24" name="Google Shape;824;p18"/>
          <p:cNvCxnSpPr/>
          <p:nvPr/>
        </p:nvCxnSpPr>
        <p:spPr>
          <a:xfrm flipH="1">
            <a:off x="7196944" y="15153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sp>
        <p:nvSpPr>
          <p:cNvPr id="825" name="Google Shape;825;p18"/>
          <p:cNvSpPr txBox="1"/>
          <p:nvPr>
            <p:ph idx="1" type="subTitle"/>
          </p:nvPr>
        </p:nvSpPr>
        <p:spPr>
          <a:xfrm>
            <a:off x="986000" y="2893651"/>
            <a:ext cx="1086600" cy="1693800"/>
          </a:xfrm>
          <a:prstGeom prst="rect">
            <a:avLst/>
          </a:prstGeom>
        </p:spPr>
        <p:txBody>
          <a:bodyPr anchorCtr="0" anchor="t" bIns="71100" lIns="71100" spcFirstLastPara="1" rIns="74825" wrap="square" tIns="71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HTTP Load Sensor - Monitors the time it takes for the page to load.</a:t>
            </a:r>
            <a:endParaRPr sz="1100"/>
          </a:p>
        </p:txBody>
      </p:sp>
      <p:sp>
        <p:nvSpPr>
          <p:cNvPr id="826" name="Google Shape;826;p18"/>
          <p:cNvSpPr txBox="1"/>
          <p:nvPr>
            <p:ph idx="1" type="subTitle"/>
          </p:nvPr>
        </p:nvSpPr>
        <p:spPr>
          <a:xfrm>
            <a:off x="2248975" y="2857500"/>
            <a:ext cx="1086600" cy="21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25"/>
              <a:t>SQL Database Sensor - Extracts data from a MySQL database, monitoring the speed and efficiency of queries</a:t>
            </a:r>
            <a:endParaRPr sz="1100"/>
          </a:p>
        </p:txBody>
      </p:sp>
      <p:sp>
        <p:nvSpPr>
          <p:cNvPr id="827" name="Google Shape;827;p18"/>
          <p:cNvSpPr txBox="1"/>
          <p:nvPr>
            <p:ph idx="1" type="subTitle"/>
          </p:nvPr>
        </p:nvSpPr>
        <p:spPr>
          <a:xfrm>
            <a:off x="3516307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SSH Sensor - Monitors secure shell connections on linux server</a:t>
            </a:r>
            <a:endParaRPr sz="1100"/>
          </a:p>
        </p:txBody>
      </p:sp>
      <p:sp>
        <p:nvSpPr>
          <p:cNvPr id="828" name="Google Shape;828;p18"/>
          <p:cNvSpPr txBox="1"/>
          <p:nvPr>
            <p:ph idx="1" type="subTitle"/>
          </p:nvPr>
        </p:nvSpPr>
        <p:spPr>
          <a:xfrm>
            <a:off x="4781458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Antivirus Sensor - Monitors antivirus software status on linux servers and windows workstations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29" name="Google Shape;829;p18"/>
          <p:cNvSpPr txBox="1"/>
          <p:nvPr>
            <p:ph idx="1" type="subTitle"/>
          </p:nvPr>
        </p:nvSpPr>
        <p:spPr>
          <a:xfrm>
            <a:off x="6046609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Critical Files Sensor - Monitors changes to critical files and directories</a:t>
            </a:r>
            <a:endParaRPr sz="1100"/>
          </a:p>
        </p:txBody>
      </p:sp>
      <p:sp>
        <p:nvSpPr>
          <p:cNvPr id="830" name="Google Shape;830;p18"/>
          <p:cNvSpPr txBox="1"/>
          <p:nvPr>
            <p:ph idx="1" type="subTitle"/>
          </p:nvPr>
        </p:nvSpPr>
        <p:spPr>
          <a:xfrm>
            <a:off x="7311759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Bandwidth Sensor - monitor for excess bandwidth utilization across network.</a:t>
            </a:r>
            <a:endParaRPr sz="1100"/>
          </a:p>
        </p:txBody>
      </p:sp>
      <p:sp>
        <p:nvSpPr>
          <p:cNvPr id="831" name="Google Shape;831;p18"/>
          <p:cNvSpPr/>
          <p:nvPr/>
        </p:nvSpPr>
        <p:spPr>
          <a:xfrm>
            <a:off x="0" y="0"/>
            <a:ext cx="1086600" cy="10905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18"/>
          <p:cNvSpPr/>
          <p:nvPr/>
        </p:nvSpPr>
        <p:spPr>
          <a:xfrm rot="10800000">
            <a:off x="8231100" y="4679400"/>
            <a:ext cx="912900" cy="10356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400">
        <p14:flip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9"/>
          <p:cNvSpPr txBox="1"/>
          <p:nvPr>
            <p:ph type="title"/>
          </p:nvPr>
        </p:nvSpPr>
        <p:spPr>
          <a:xfrm>
            <a:off x="425400" y="213672"/>
            <a:ext cx="8520600" cy="6363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/>
              <a:t>current sensors… part 2</a:t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7212725" y="1517752"/>
            <a:ext cx="10974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39" name="Google Shape;839;p19"/>
          <p:cNvSpPr/>
          <p:nvPr/>
        </p:nvSpPr>
        <p:spPr>
          <a:xfrm>
            <a:off x="5959555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840" name="Google Shape;840;p19"/>
          <p:cNvSpPr/>
          <p:nvPr/>
        </p:nvSpPr>
        <p:spPr>
          <a:xfrm>
            <a:off x="4695690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3431826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42" name="Google Shape;842;p19"/>
          <p:cNvSpPr/>
          <p:nvPr/>
        </p:nvSpPr>
        <p:spPr>
          <a:xfrm>
            <a:off x="2163761" y="1517752"/>
            <a:ext cx="10866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909620" y="1517752"/>
            <a:ext cx="1097400" cy="9486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b="1"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44" name="Google Shape;844;p19"/>
          <p:cNvCxnSpPr/>
          <p:nvPr/>
        </p:nvCxnSpPr>
        <p:spPr>
          <a:xfrm flipH="1">
            <a:off x="897619" y="14391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45" name="Google Shape;845;p19"/>
          <p:cNvCxnSpPr/>
          <p:nvPr/>
        </p:nvCxnSpPr>
        <p:spPr>
          <a:xfrm flipH="1">
            <a:off x="2149074" y="14391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46" name="Google Shape;846;p19"/>
          <p:cNvCxnSpPr/>
          <p:nvPr/>
        </p:nvCxnSpPr>
        <p:spPr>
          <a:xfrm flipH="1">
            <a:off x="3423481" y="14391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47" name="Google Shape;847;p19"/>
          <p:cNvCxnSpPr/>
          <p:nvPr/>
        </p:nvCxnSpPr>
        <p:spPr>
          <a:xfrm flipH="1">
            <a:off x="4679708" y="16677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48" name="Google Shape;848;p19"/>
          <p:cNvCxnSpPr/>
          <p:nvPr/>
        </p:nvCxnSpPr>
        <p:spPr>
          <a:xfrm flipH="1">
            <a:off x="5952914" y="15153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cxnSp>
        <p:nvCxnSpPr>
          <p:cNvPr id="849" name="Google Shape;849;p19"/>
          <p:cNvCxnSpPr/>
          <p:nvPr/>
        </p:nvCxnSpPr>
        <p:spPr>
          <a:xfrm flipH="1">
            <a:off x="7196944" y="1515308"/>
            <a:ext cx="12000" cy="33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28575" rotWithShape="0" algn="bl" dir="4260000" dist="9525">
              <a:srgbClr val="000000">
                <a:alpha val="50000"/>
              </a:srgbClr>
            </a:outerShdw>
          </a:effectLst>
        </p:spPr>
      </p:cxnSp>
      <p:sp>
        <p:nvSpPr>
          <p:cNvPr id="850" name="Google Shape;850;p19"/>
          <p:cNvSpPr txBox="1"/>
          <p:nvPr>
            <p:ph idx="1" type="subTitle"/>
          </p:nvPr>
        </p:nvSpPr>
        <p:spPr>
          <a:xfrm>
            <a:off x="986006" y="2893646"/>
            <a:ext cx="1086600" cy="2219700"/>
          </a:xfrm>
          <a:prstGeom prst="rect">
            <a:avLst/>
          </a:prstGeom>
        </p:spPr>
        <p:txBody>
          <a:bodyPr anchorCtr="0" anchor="t" bIns="71100" lIns="71100" spcFirstLastPara="1" rIns="74825" wrap="square" tIns="71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 Load Sensor -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Medium</a:t>
            </a:r>
            <a:br>
              <a:rPr lang="en" sz="1100"/>
            </a:br>
            <a:r>
              <a:rPr lang="en" sz="1100"/>
              <a:t>Slow load times can affect development .</a:t>
            </a:r>
            <a:endParaRPr sz="1100"/>
          </a:p>
        </p:txBody>
      </p:sp>
      <p:sp>
        <p:nvSpPr>
          <p:cNvPr id="851" name="Google Shape;851;p19"/>
          <p:cNvSpPr txBox="1"/>
          <p:nvPr>
            <p:ph idx="1" type="subTitle"/>
          </p:nvPr>
        </p:nvSpPr>
        <p:spPr>
          <a:xfrm>
            <a:off x="2251157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SQL Database Sensor -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High Priority</a:t>
            </a:r>
            <a:r>
              <a:rPr lang="en" sz="1100"/>
              <a:t> Delays can impact operations and business decisions 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852" name="Google Shape;852;p19"/>
          <p:cNvSpPr txBox="1"/>
          <p:nvPr>
            <p:ph idx="1" type="subTitle"/>
          </p:nvPr>
        </p:nvSpPr>
        <p:spPr>
          <a:xfrm>
            <a:off x="3516307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SSH Sensor   -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High Priority</a:t>
            </a:r>
            <a:br>
              <a:rPr lang="en" sz="1100"/>
            </a:br>
            <a:r>
              <a:rPr lang="en" sz="1100"/>
              <a:t>Protect sensitive information and system integrity</a:t>
            </a:r>
            <a:endParaRPr sz="1100"/>
          </a:p>
        </p:txBody>
      </p:sp>
      <p:sp>
        <p:nvSpPr>
          <p:cNvPr id="853" name="Google Shape;853;p19"/>
          <p:cNvSpPr txBox="1"/>
          <p:nvPr>
            <p:ph idx="1" type="subTitle"/>
          </p:nvPr>
        </p:nvSpPr>
        <p:spPr>
          <a:xfrm>
            <a:off x="4781458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Antivirus Sensor -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Medium</a:t>
            </a:r>
            <a:br>
              <a:rPr b="1" lang="en" sz="1100"/>
            </a:br>
            <a:r>
              <a:rPr lang="en" sz="1100"/>
              <a:t>Protects against malware infection and data breach</a:t>
            </a:r>
            <a:endParaRPr sz="1100"/>
          </a:p>
        </p:txBody>
      </p:sp>
      <p:sp>
        <p:nvSpPr>
          <p:cNvPr id="854" name="Google Shape;854;p19"/>
          <p:cNvSpPr txBox="1"/>
          <p:nvPr>
            <p:ph idx="1" type="subTitle"/>
          </p:nvPr>
        </p:nvSpPr>
        <p:spPr>
          <a:xfrm>
            <a:off x="6046609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Critical Files Sensor -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Medium</a:t>
            </a:r>
            <a:r>
              <a:rPr lang="en" sz="1100"/>
              <a:t> Protects confidentiality and ensures compliance with regulatory policies</a:t>
            </a:r>
            <a:endParaRPr sz="1100"/>
          </a:p>
        </p:txBody>
      </p:sp>
      <p:sp>
        <p:nvSpPr>
          <p:cNvPr id="855" name="Google Shape;855;p19"/>
          <p:cNvSpPr txBox="1"/>
          <p:nvPr>
            <p:ph idx="1" type="subTitle"/>
          </p:nvPr>
        </p:nvSpPr>
        <p:spPr>
          <a:xfrm>
            <a:off x="7311759" y="2893646"/>
            <a:ext cx="10866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Bandwidth Sensor -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Medium</a:t>
            </a:r>
            <a:br>
              <a:rPr b="1" lang="en" sz="1100"/>
            </a:br>
            <a:r>
              <a:rPr lang="en" sz="1100"/>
              <a:t>Helps maintain system stability and, security</a:t>
            </a:r>
            <a:endParaRPr sz="1100"/>
          </a:p>
        </p:txBody>
      </p:sp>
      <p:sp>
        <p:nvSpPr>
          <p:cNvPr id="856" name="Google Shape;856;p19"/>
          <p:cNvSpPr/>
          <p:nvPr/>
        </p:nvSpPr>
        <p:spPr>
          <a:xfrm flipH="1" rot="10800000">
            <a:off x="0" y="4690800"/>
            <a:ext cx="1086600" cy="10128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19"/>
          <p:cNvSpPr/>
          <p:nvPr/>
        </p:nvSpPr>
        <p:spPr>
          <a:xfrm flipH="1">
            <a:off x="8057400" y="0"/>
            <a:ext cx="1086600" cy="10128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0"/>
          <p:cNvSpPr txBox="1"/>
          <p:nvPr/>
        </p:nvSpPr>
        <p:spPr>
          <a:xfrm>
            <a:off x="819075" y="1366225"/>
            <a:ext cx="7039200" cy="3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Sintony"/>
                <a:ea typeface="Sintony"/>
                <a:cs typeface="Sintony"/>
                <a:sym typeface="Sintony"/>
              </a:rPr>
              <a:t>Critical Sensors: </a:t>
            </a:r>
            <a:endParaRPr b="1"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-279400" lvl="0" marL="355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intony"/>
              <a:buChar char="●"/>
            </a:pPr>
            <a:r>
              <a:rPr lang="en" sz="1600">
                <a:solidFill>
                  <a:schemeClr val="dk1"/>
                </a:solidFill>
                <a:latin typeface="Sintony"/>
                <a:ea typeface="Sintony"/>
                <a:cs typeface="Sintony"/>
                <a:sym typeface="Sintony"/>
              </a:rPr>
              <a:t>The MySQL Database Query Sensor, SSH Sensor, and Antivirus Status Sensor are deemed critical due to their direct impact on data security and system integrity.</a:t>
            </a:r>
            <a:endParaRPr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0" lvl="0" marL="355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Sintony"/>
                <a:ea typeface="Sintony"/>
                <a:cs typeface="Sintony"/>
                <a:sym typeface="Sintony"/>
              </a:rPr>
              <a:t>Priority Assessment: </a:t>
            </a:r>
            <a:endParaRPr b="1"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-279400" lvl="0" marL="355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intony"/>
              <a:buChar char="●"/>
            </a:pPr>
            <a:r>
              <a:rPr lang="en" sz="1600">
                <a:solidFill>
                  <a:schemeClr val="dk1"/>
                </a:solidFill>
                <a:latin typeface="Sintony"/>
                <a:ea typeface="Sintony"/>
                <a:cs typeface="Sintony"/>
                <a:sym typeface="Sintony"/>
              </a:rPr>
              <a:t>A risk-based approach is used to prioritize sensors, considering factors like data sensitivity, potential impact, and likelihood of exploitation.</a:t>
            </a:r>
            <a:endParaRPr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0" lvl="0" marL="355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Sintony"/>
                <a:ea typeface="Sintony"/>
                <a:cs typeface="Sintony"/>
                <a:sym typeface="Sintony"/>
              </a:rPr>
              <a:t>Recommendations: </a:t>
            </a:r>
            <a:endParaRPr b="1"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  <a:p>
            <a:pPr indent="-279400" lvl="0" marL="355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intony"/>
              <a:buChar char="●"/>
            </a:pPr>
            <a:r>
              <a:rPr lang="en" sz="1600">
                <a:solidFill>
                  <a:schemeClr val="dk1"/>
                </a:solidFill>
                <a:latin typeface="Sintony"/>
                <a:ea typeface="Sintony"/>
                <a:cs typeface="Sintony"/>
                <a:sym typeface="Sintony"/>
              </a:rPr>
              <a:t>The document suggests additional security measures, such as implementing an Intrusion Detection System (IDS) and Web Application Firewall (WAF), to enhance overall security posture.</a:t>
            </a:r>
            <a:endParaRPr sz="1600">
              <a:solidFill>
                <a:schemeClr val="dk1"/>
              </a:solidFill>
              <a:latin typeface="Sintony"/>
              <a:ea typeface="Sintony"/>
              <a:cs typeface="Sintony"/>
              <a:sym typeface="Sintony"/>
            </a:endParaRPr>
          </a:p>
        </p:txBody>
      </p:sp>
      <p:sp>
        <p:nvSpPr>
          <p:cNvPr id="863" name="Google Shape;863;p20"/>
          <p:cNvSpPr txBox="1"/>
          <p:nvPr>
            <p:ph type="title"/>
          </p:nvPr>
        </p:nvSpPr>
        <p:spPr>
          <a:xfrm>
            <a:off x="819081" y="443150"/>
            <a:ext cx="6297900" cy="6363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include…</a:t>
            </a:r>
            <a:endParaRPr/>
          </a:p>
        </p:txBody>
      </p:sp>
      <p:sp>
        <p:nvSpPr>
          <p:cNvPr id="864" name="Google Shape;864;p20"/>
          <p:cNvSpPr txBox="1"/>
          <p:nvPr>
            <p:ph idx="2" type="body"/>
          </p:nvPr>
        </p:nvSpPr>
        <p:spPr>
          <a:xfrm>
            <a:off x="4898038" y="2241296"/>
            <a:ext cx="3936300" cy="27369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65" name="Google Shape;865;p20"/>
          <p:cNvSpPr/>
          <p:nvPr/>
        </p:nvSpPr>
        <p:spPr>
          <a:xfrm flipH="1" rot="5400000">
            <a:off x="8094300" y="4665300"/>
            <a:ext cx="1086600" cy="10128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20"/>
          <p:cNvSpPr/>
          <p:nvPr/>
        </p:nvSpPr>
        <p:spPr>
          <a:xfrm flipH="1" rot="-5400000">
            <a:off x="-36900" y="29750"/>
            <a:ext cx="1086600" cy="10128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400">
        <p14:flip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/>
          <p:nvPr/>
        </p:nvSpPr>
        <p:spPr>
          <a:xfrm>
            <a:off x="1459750" y="1323150"/>
            <a:ext cx="69246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Implementing additional sensors like IDS and WAF.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Reviewing and adjusting sensor configurations.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Strengthening access controls in addition to providing employee security training.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Regularly scanning for vulnerabilities and Encrypting sensitive data.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2" name="Google Shape;872;p21"/>
          <p:cNvSpPr txBox="1"/>
          <p:nvPr>
            <p:ph type="title"/>
          </p:nvPr>
        </p:nvSpPr>
        <p:spPr>
          <a:xfrm>
            <a:off x="324975" y="192483"/>
            <a:ext cx="8340600" cy="765300"/>
          </a:xfrm>
          <a:prstGeom prst="rect">
            <a:avLst/>
          </a:prstGeom>
        </p:spPr>
        <p:txBody>
          <a:bodyPr anchorCtr="0" anchor="t" bIns="94800" lIns="94800" spcFirstLastPara="1" rIns="94800" wrap="square" tIns="94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Recommendations…</a:t>
            </a:r>
            <a:endParaRPr/>
          </a:p>
        </p:txBody>
      </p:sp>
      <p:sp>
        <p:nvSpPr>
          <p:cNvPr id="873" name="Google Shape;873;p21"/>
          <p:cNvSpPr/>
          <p:nvPr/>
        </p:nvSpPr>
        <p:spPr>
          <a:xfrm>
            <a:off x="1617300" y="2954250"/>
            <a:ext cx="177600" cy="1752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21"/>
          <p:cNvSpPr/>
          <p:nvPr/>
        </p:nvSpPr>
        <p:spPr>
          <a:xfrm flipH="1" rot="10800000">
            <a:off x="0" y="4690800"/>
            <a:ext cx="1086600" cy="10128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21"/>
          <p:cNvSpPr/>
          <p:nvPr/>
        </p:nvSpPr>
        <p:spPr>
          <a:xfrm flipH="1">
            <a:off x="8057400" y="0"/>
            <a:ext cx="1086600" cy="1012800"/>
          </a:xfrm>
          <a:prstGeom prst="halfFrame">
            <a:avLst>
              <a:gd fmla="val 19963" name="adj1"/>
              <a:gd fmla="val 19162" name="adj2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21"/>
          <p:cNvSpPr/>
          <p:nvPr/>
        </p:nvSpPr>
        <p:spPr>
          <a:xfrm>
            <a:off x="1617300" y="2404075"/>
            <a:ext cx="177600" cy="1752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21"/>
          <p:cNvSpPr/>
          <p:nvPr/>
        </p:nvSpPr>
        <p:spPr>
          <a:xfrm>
            <a:off x="1617300" y="1514225"/>
            <a:ext cx="177600" cy="1752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21"/>
          <p:cNvSpPr/>
          <p:nvPr/>
        </p:nvSpPr>
        <p:spPr>
          <a:xfrm>
            <a:off x="1617300" y="3811525"/>
            <a:ext cx="177600" cy="1752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400">
        <p14:flip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2"/>
          <p:cNvSpPr/>
          <p:nvPr/>
        </p:nvSpPr>
        <p:spPr>
          <a:xfrm rot="-5400000">
            <a:off x="3801638" y="289536"/>
            <a:ext cx="5726775" cy="5135950"/>
          </a:xfrm>
          <a:prstGeom prst="flowChartManualInpu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22"/>
          <p:cNvSpPr txBox="1"/>
          <p:nvPr>
            <p:ph type="title"/>
          </p:nvPr>
        </p:nvSpPr>
        <p:spPr>
          <a:xfrm>
            <a:off x="808775" y="792200"/>
            <a:ext cx="6374700" cy="13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700">
                <a:solidFill>
                  <a:srgbClr val="FFE599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" sz="7700">
                <a:solidFill>
                  <a:srgbClr val="FFE599"/>
                </a:solidFill>
                <a:latin typeface="Georgia"/>
                <a:ea typeface="Georgia"/>
                <a:cs typeface="Georgia"/>
                <a:sym typeface="Georgia"/>
              </a:rPr>
              <a:t>onclusion</a:t>
            </a:r>
            <a:endParaRPr sz="7700">
              <a:solidFill>
                <a:srgbClr val="FFE59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885" name="Google Shape;885;p22"/>
          <p:cNvGrpSpPr/>
          <p:nvPr/>
        </p:nvGrpSpPr>
        <p:grpSpPr>
          <a:xfrm>
            <a:off x="7279275" y="107622"/>
            <a:ext cx="1741950" cy="1913012"/>
            <a:chOff x="325900" y="96175"/>
            <a:chExt cx="2322600" cy="2295706"/>
          </a:xfrm>
        </p:grpSpPr>
        <p:sp>
          <p:nvSpPr>
            <p:cNvPr id="886" name="Google Shape;886;p22"/>
            <p:cNvSpPr/>
            <p:nvPr/>
          </p:nvSpPr>
          <p:spPr>
            <a:xfrm>
              <a:off x="325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2"/>
            <p:cNvSpPr/>
            <p:nvPr/>
          </p:nvSpPr>
          <p:spPr>
            <a:xfrm>
              <a:off x="325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2"/>
            <p:cNvSpPr/>
            <p:nvPr/>
          </p:nvSpPr>
          <p:spPr>
            <a:xfrm>
              <a:off x="325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2"/>
            <p:cNvSpPr/>
            <p:nvPr/>
          </p:nvSpPr>
          <p:spPr>
            <a:xfrm>
              <a:off x="325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2"/>
            <p:cNvSpPr/>
            <p:nvPr/>
          </p:nvSpPr>
          <p:spPr>
            <a:xfrm>
              <a:off x="325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2"/>
            <p:cNvSpPr/>
            <p:nvPr/>
          </p:nvSpPr>
          <p:spPr>
            <a:xfrm>
              <a:off x="325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2"/>
            <p:cNvSpPr/>
            <p:nvPr/>
          </p:nvSpPr>
          <p:spPr>
            <a:xfrm>
              <a:off x="325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2"/>
            <p:cNvSpPr/>
            <p:nvPr/>
          </p:nvSpPr>
          <p:spPr>
            <a:xfrm>
              <a:off x="325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2"/>
            <p:cNvSpPr/>
            <p:nvPr/>
          </p:nvSpPr>
          <p:spPr>
            <a:xfrm>
              <a:off x="325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325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325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325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2"/>
            <p:cNvSpPr/>
            <p:nvPr/>
          </p:nvSpPr>
          <p:spPr>
            <a:xfrm>
              <a:off x="325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2"/>
            <p:cNvSpPr/>
            <p:nvPr/>
          </p:nvSpPr>
          <p:spPr>
            <a:xfrm>
              <a:off x="325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2"/>
            <p:cNvSpPr/>
            <p:nvPr/>
          </p:nvSpPr>
          <p:spPr>
            <a:xfrm>
              <a:off x="325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2"/>
            <p:cNvSpPr/>
            <p:nvPr/>
          </p:nvSpPr>
          <p:spPr>
            <a:xfrm>
              <a:off x="4783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2"/>
            <p:cNvSpPr/>
            <p:nvPr/>
          </p:nvSpPr>
          <p:spPr>
            <a:xfrm>
              <a:off x="4783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4783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4783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4783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4783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2"/>
            <p:cNvSpPr/>
            <p:nvPr/>
          </p:nvSpPr>
          <p:spPr>
            <a:xfrm>
              <a:off x="4783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2"/>
            <p:cNvSpPr/>
            <p:nvPr/>
          </p:nvSpPr>
          <p:spPr>
            <a:xfrm>
              <a:off x="4783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2"/>
            <p:cNvSpPr/>
            <p:nvPr/>
          </p:nvSpPr>
          <p:spPr>
            <a:xfrm>
              <a:off x="4783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2"/>
            <p:cNvSpPr/>
            <p:nvPr/>
          </p:nvSpPr>
          <p:spPr>
            <a:xfrm>
              <a:off x="4783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2"/>
            <p:cNvSpPr/>
            <p:nvPr/>
          </p:nvSpPr>
          <p:spPr>
            <a:xfrm>
              <a:off x="4783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2"/>
            <p:cNvSpPr/>
            <p:nvPr/>
          </p:nvSpPr>
          <p:spPr>
            <a:xfrm>
              <a:off x="4783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2"/>
            <p:cNvSpPr/>
            <p:nvPr/>
          </p:nvSpPr>
          <p:spPr>
            <a:xfrm>
              <a:off x="4783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2"/>
            <p:cNvSpPr/>
            <p:nvPr/>
          </p:nvSpPr>
          <p:spPr>
            <a:xfrm>
              <a:off x="4783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2"/>
            <p:cNvSpPr/>
            <p:nvPr/>
          </p:nvSpPr>
          <p:spPr>
            <a:xfrm>
              <a:off x="4783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2"/>
            <p:cNvSpPr/>
            <p:nvPr/>
          </p:nvSpPr>
          <p:spPr>
            <a:xfrm>
              <a:off x="6307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2"/>
            <p:cNvSpPr/>
            <p:nvPr/>
          </p:nvSpPr>
          <p:spPr>
            <a:xfrm>
              <a:off x="6307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2"/>
            <p:cNvSpPr/>
            <p:nvPr/>
          </p:nvSpPr>
          <p:spPr>
            <a:xfrm>
              <a:off x="6307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2"/>
            <p:cNvSpPr/>
            <p:nvPr/>
          </p:nvSpPr>
          <p:spPr>
            <a:xfrm>
              <a:off x="6307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2"/>
            <p:cNvSpPr/>
            <p:nvPr/>
          </p:nvSpPr>
          <p:spPr>
            <a:xfrm>
              <a:off x="6307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2"/>
            <p:cNvSpPr/>
            <p:nvPr/>
          </p:nvSpPr>
          <p:spPr>
            <a:xfrm>
              <a:off x="6307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2"/>
            <p:cNvSpPr/>
            <p:nvPr/>
          </p:nvSpPr>
          <p:spPr>
            <a:xfrm>
              <a:off x="6307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2"/>
            <p:cNvSpPr/>
            <p:nvPr/>
          </p:nvSpPr>
          <p:spPr>
            <a:xfrm>
              <a:off x="6307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6307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2"/>
            <p:cNvSpPr/>
            <p:nvPr/>
          </p:nvSpPr>
          <p:spPr>
            <a:xfrm>
              <a:off x="6307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2"/>
            <p:cNvSpPr/>
            <p:nvPr/>
          </p:nvSpPr>
          <p:spPr>
            <a:xfrm>
              <a:off x="6307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2"/>
            <p:cNvSpPr/>
            <p:nvPr/>
          </p:nvSpPr>
          <p:spPr>
            <a:xfrm>
              <a:off x="6307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2"/>
            <p:cNvSpPr/>
            <p:nvPr/>
          </p:nvSpPr>
          <p:spPr>
            <a:xfrm>
              <a:off x="6307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2"/>
            <p:cNvSpPr/>
            <p:nvPr/>
          </p:nvSpPr>
          <p:spPr>
            <a:xfrm>
              <a:off x="6307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2"/>
            <p:cNvSpPr/>
            <p:nvPr/>
          </p:nvSpPr>
          <p:spPr>
            <a:xfrm>
              <a:off x="6307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2"/>
            <p:cNvSpPr/>
            <p:nvPr/>
          </p:nvSpPr>
          <p:spPr>
            <a:xfrm>
              <a:off x="7831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2"/>
            <p:cNvSpPr/>
            <p:nvPr/>
          </p:nvSpPr>
          <p:spPr>
            <a:xfrm>
              <a:off x="7831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2"/>
            <p:cNvSpPr/>
            <p:nvPr/>
          </p:nvSpPr>
          <p:spPr>
            <a:xfrm>
              <a:off x="7831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2"/>
            <p:cNvSpPr/>
            <p:nvPr/>
          </p:nvSpPr>
          <p:spPr>
            <a:xfrm>
              <a:off x="7831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2"/>
            <p:cNvSpPr/>
            <p:nvPr/>
          </p:nvSpPr>
          <p:spPr>
            <a:xfrm>
              <a:off x="7831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7831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2"/>
            <p:cNvSpPr/>
            <p:nvPr/>
          </p:nvSpPr>
          <p:spPr>
            <a:xfrm>
              <a:off x="7831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2"/>
            <p:cNvSpPr/>
            <p:nvPr/>
          </p:nvSpPr>
          <p:spPr>
            <a:xfrm>
              <a:off x="7831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2"/>
            <p:cNvSpPr/>
            <p:nvPr/>
          </p:nvSpPr>
          <p:spPr>
            <a:xfrm>
              <a:off x="7831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2"/>
            <p:cNvSpPr/>
            <p:nvPr/>
          </p:nvSpPr>
          <p:spPr>
            <a:xfrm>
              <a:off x="7831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7831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2"/>
            <p:cNvSpPr/>
            <p:nvPr/>
          </p:nvSpPr>
          <p:spPr>
            <a:xfrm>
              <a:off x="7831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7831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2"/>
            <p:cNvSpPr/>
            <p:nvPr/>
          </p:nvSpPr>
          <p:spPr>
            <a:xfrm>
              <a:off x="7831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2"/>
            <p:cNvSpPr/>
            <p:nvPr/>
          </p:nvSpPr>
          <p:spPr>
            <a:xfrm>
              <a:off x="7831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2"/>
            <p:cNvSpPr/>
            <p:nvPr/>
          </p:nvSpPr>
          <p:spPr>
            <a:xfrm>
              <a:off x="9355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2"/>
            <p:cNvSpPr/>
            <p:nvPr/>
          </p:nvSpPr>
          <p:spPr>
            <a:xfrm>
              <a:off x="9355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2"/>
            <p:cNvSpPr/>
            <p:nvPr/>
          </p:nvSpPr>
          <p:spPr>
            <a:xfrm>
              <a:off x="9355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2"/>
            <p:cNvSpPr/>
            <p:nvPr/>
          </p:nvSpPr>
          <p:spPr>
            <a:xfrm>
              <a:off x="9355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2"/>
            <p:cNvSpPr/>
            <p:nvPr/>
          </p:nvSpPr>
          <p:spPr>
            <a:xfrm>
              <a:off x="9355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2"/>
            <p:cNvSpPr/>
            <p:nvPr/>
          </p:nvSpPr>
          <p:spPr>
            <a:xfrm>
              <a:off x="9355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2"/>
            <p:cNvSpPr/>
            <p:nvPr/>
          </p:nvSpPr>
          <p:spPr>
            <a:xfrm>
              <a:off x="9355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2"/>
            <p:cNvSpPr/>
            <p:nvPr/>
          </p:nvSpPr>
          <p:spPr>
            <a:xfrm>
              <a:off x="9355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2"/>
            <p:cNvSpPr/>
            <p:nvPr/>
          </p:nvSpPr>
          <p:spPr>
            <a:xfrm>
              <a:off x="9355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2"/>
            <p:cNvSpPr/>
            <p:nvPr/>
          </p:nvSpPr>
          <p:spPr>
            <a:xfrm>
              <a:off x="9355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2"/>
            <p:cNvSpPr/>
            <p:nvPr/>
          </p:nvSpPr>
          <p:spPr>
            <a:xfrm>
              <a:off x="9355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2"/>
            <p:cNvSpPr/>
            <p:nvPr/>
          </p:nvSpPr>
          <p:spPr>
            <a:xfrm>
              <a:off x="9355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2"/>
            <p:cNvSpPr/>
            <p:nvPr/>
          </p:nvSpPr>
          <p:spPr>
            <a:xfrm>
              <a:off x="9355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2"/>
            <p:cNvSpPr/>
            <p:nvPr/>
          </p:nvSpPr>
          <p:spPr>
            <a:xfrm>
              <a:off x="9355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2"/>
            <p:cNvSpPr/>
            <p:nvPr/>
          </p:nvSpPr>
          <p:spPr>
            <a:xfrm>
              <a:off x="9355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2"/>
            <p:cNvSpPr/>
            <p:nvPr/>
          </p:nvSpPr>
          <p:spPr>
            <a:xfrm>
              <a:off x="1087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2"/>
            <p:cNvSpPr/>
            <p:nvPr/>
          </p:nvSpPr>
          <p:spPr>
            <a:xfrm>
              <a:off x="1087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2"/>
            <p:cNvSpPr/>
            <p:nvPr/>
          </p:nvSpPr>
          <p:spPr>
            <a:xfrm>
              <a:off x="1087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2"/>
            <p:cNvSpPr/>
            <p:nvPr/>
          </p:nvSpPr>
          <p:spPr>
            <a:xfrm>
              <a:off x="1087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2"/>
            <p:cNvSpPr/>
            <p:nvPr/>
          </p:nvSpPr>
          <p:spPr>
            <a:xfrm>
              <a:off x="1087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>
              <a:off x="1087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>
              <a:off x="1087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>
              <a:off x="1087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2"/>
            <p:cNvSpPr/>
            <p:nvPr/>
          </p:nvSpPr>
          <p:spPr>
            <a:xfrm>
              <a:off x="1087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2"/>
            <p:cNvSpPr/>
            <p:nvPr/>
          </p:nvSpPr>
          <p:spPr>
            <a:xfrm>
              <a:off x="1087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2"/>
            <p:cNvSpPr/>
            <p:nvPr/>
          </p:nvSpPr>
          <p:spPr>
            <a:xfrm>
              <a:off x="1087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2"/>
            <p:cNvSpPr/>
            <p:nvPr/>
          </p:nvSpPr>
          <p:spPr>
            <a:xfrm>
              <a:off x="1087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2"/>
            <p:cNvSpPr/>
            <p:nvPr/>
          </p:nvSpPr>
          <p:spPr>
            <a:xfrm>
              <a:off x="1087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2"/>
            <p:cNvSpPr/>
            <p:nvPr/>
          </p:nvSpPr>
          <p:spPr>
            <a:xfrm>
              <a:off x="1087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2"/>
            <p:cNvSpPr/>
            <p:nvPr/>
          </p:nvSpPr>
          <p:spPr>
            <a:xfrm>
              <a:off x="1087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2"/>
            <p:cNvSpPr/>
            <p:nvPr/>
          </p:nvSpPr>
          <p:spPr>
            <a:xfrm>
              <a:off x="12403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2"/>
            <p:cNvSpPr/>
            <p:nvPr/>
          </p:nvSpPr>
          <p:spPr>
            <a:xfrm>
              <a:off x="12403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2"/>
            <p:cNvSpPr/>
            <p:nvPr/>
          </p:nvSpPr>
          <p:spPr>
            <a:xfrm>
              <a:off x="12403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2"/>
            <p:cNvSpPr/>
            <p:nvPr/>
          </p:nvSpPr>
          <p:spPr>
            <a:xfrm>
              <a:off x="12403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2"/>
            <p:cNvSpPr/>
            <p:nvPr/>
          </p:nvSpPr>
          <p:spPr>
            <a:xfrm>
              <a:off x="12403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2"/>
            <p:cNvSpPr/>
            <p:nvPr/>
          </p:nvSpPr>
          <p:spPr>
            <a:xfrm>
              <a:off x="12403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2"/>
            <p:cNvSpPr/>
            <p:nvPr/>
          </p:nvSpPr>
          <p:spPr>
            <a:xfrm>
              <a:off x="12403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2"/>
            <p:cNvSpPr/>
            <p:nvPr/>
          </p:nvSpPr>
          <p:spPr>
            <a:xfrm>
              <a:off x="12403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2"/>
            <p:cNvSpPr/>
            <p:nvPr/>
          </p:nvSpPr>
          <p:spPr>
            <a:xfrm>
              <a:off x="12403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2"/>
            <p:cNvSpPr/>
            <p:nvPr/>
          </p:nvSpPr>
          <p:spPr>
            <a:xfrm>
              <a:off x="12403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2"/>
            <p:cNvSpPr/>
            <p:nvPr/>
          </p:nvSpPr>
          <p:spPr>
            <a:xfrm>
              <a:off x="12403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2"/>
            <p:cNvSpPr/>
            <p:nvPr/>
          </p:nvSpPr>
          <p:spPr>
            <a:xfrm>
              <a:off x="12403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2"/>
            <p:cNvSpPr/>
            <p:nvPr/>
          </p:nvSpPr>
          <p:spPr>
            <a:xfrm>
              <a:off x="12403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2"/>
            <p:cNvSpPr/>
            <p:nvPr/>
          </p:nvSpPr>
          <p:spPr>
            <a:xfrm>
              <a:off x="12403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2"/>
            <p:cNvSpPr/>
            <p:nvPr/>
          </p:nvSpPr>
          <p:spPr>
            <a:xfrm>
              <a:off x="12403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2"/>
            <p:cNvSpPr/>
            <p:nvPr/>
          </p:nvSpPr>
          <p:spPr>
            <a:xfrm>
              <a:off x="13927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2"/>
            <p:cNvSpPr/>
            <p:nvPr/>
          </p:nvSpPr>
          <p:spPr>
            <a:xfrm>
              <a:off x="13927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2"/>
            <p:cNvSpPr/>
            <p:nvPr/>
          </p:nvSpPr>
          <p:spPr>
            <a:xfrm>
              <a:off x="13927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2"/>
            <p:cNvSpPr/>
            <p:nvPr/>
          </p:nvSpPr>
          <p:spPr>
            <a:xfrm>
              <a:off x="13927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2"/>
            <p:cNvSpPr/>
            <p:nvPr/>
          </p:nvSpPr>
          <p:spPr>
            <a:xfrm>
              <a:off x="13927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2"/>
            <p:cNvSpPr/>
            <p:nvPr/>
          </p:nvSpPr>
          <p:spPr>
            <a:xfrm>
              <a:off x="13927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2"/>
            <p:cNvSpPr/>
            <p:nvPr/>
          </p:nvSpPr>
          <p:spPr>
            <a:xfrm>
              <a:off x="13927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2"/>
            <p:cNvSpPr/>
            <p:nvPr/>
          </p:nvSpPr>
          <p:spPr>
            <a:xfrm>
              <a:off x="13927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2"/>
            <p:cNvSpPr/>
            <p:nvPr/>
          </p:nvSpPr>
          <p:spPr>
            <a:xfrm>
              <a:off x="13927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2"/>
            <p:cNvSpPr/>
            <p:nvPr/>
          </p:nvSpPr>
          <p:spPr>
            <a:xfrm>
              <a:off x="13927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2"/>
            <p:cNvSpPr/>
            <p:nvPr/>
          </p:nvSpPr>
          <p:spPr>
            <a:xfrm>
              <a:off x="13927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2"/>
            <p:cNvSpPr/>
            <p:nvPr/>
          </p:nvSpPr>
          <p:spPr>
            <a:xfrm>
              <a:off x="13927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2"/>
            <p:cNvSpPr/>
            <p:nvPr/>
          </p:nvSpPr>
          <p:spPr>
            <a:xfrm>
              <a:off x="13927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2"/>
            <p:cNvSpPr/>
            <p:nvPr/>
          </p:nvSpPr>
          <p:spPr>
            <a:xfrm>
              <a:off x="13927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2"/>
            <p:cNvSpPr/>
            <p:nvPr/>
          </p:nvSpPr>
          <p:spPr>
            <a:xfrm>
              <a:off x="13927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2"/>
            <p:cNvSpPr/>
            <p:nvPr/>
          </p:nvSpPr>
          <p:spPr>
            <a:xfrm>
              <a:off x="15451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2"/>
            <p:cNvSpPr/>
            <p:nvPr/>
          </p:nvSpPr>
          <p:spPr>
            <a:xfrm>
              <a:off x="15451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15451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2"/>
            <p:cNvSpPr/>
            <p:nvPr/>
          </p:nvSpPr>
          <p:spPr>
            <a:xfrm>
              <a:off x="15451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15451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2"/>
            <p:cNvSpPr/>
            <p:nvPr/>
          </p:nvSpPr>
          <p:spPr>
            <a:xfrm>
              <a:off x="15451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15451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15451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2"/>
            <p:cNvSpPr/>
            <p:nvPr/>
          </p:nvSpPr>
          <p:spPr>
            <a:xfrm>
              <a:off x="15451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2"/>
            <p:cNvSpPr/>
            <p:nvPr/>
          </p:nvSpPr>
          <p:spPr>
            <a:xfrm>
              <a:off x="15451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2"/>
            <p:cNvSpPr/>
            <p:nvPr/>
          </p:nvSpPr>
          <p:spPr>
            <a:xfrm>
              <a:off x="15451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2"/>
            <p:cNvSpPr/>
            <p:nvPr/>
          </p:nvSpPr>
          <p:spPr>
            <a:xfrm>
              <a:off x="15451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2"/>
            <p:cNvSpPr/>
            <p:nvPr/>
          </p:nvSpPr>
          <p:spPr>
            <a:xfrm>
              <a:off x="15451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2"/>
            <p:cNvSpPr/>
            <p:nvPr/>
          </p:nvSpPr>
          <p:spPr>
            <a:xfrm>
              <a:off x="15451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2"/>
            <p:cNvSpPr/>
            <p:nvPr/>
          </p:nvSpPr>
          <p:spPr>
            <a:xfrm>
              <a:off x="15451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2"/>
            <p:cNvSpPr/>
            <p:nvPr/>
          </p:nvSpPr>
          <p:spPr>
            <a:xfrm>
              <a:off x="16975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2"/>
            <p:cNvSpPr/>
            <p:nvPr/>
          </p:nvSpPr>
          <p:spPr>
            <a:xfrm>
              <a:off x="16975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16975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16975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2"/>
            <p:cNvSpPr/>
            <p:nvPr/>
          </p:nvSpPr>
          <p:spPr>
            <a:xfrm>
              <a:off x="16975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2"/>
            <p:cNvSpPr/>
            <p:nvPr/>
          </p:nvSpPr>
          <p:spPr>
            <a:xfrm>
              <a:off x="16975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2"/>
            <p:cNvSpPr/>
            <p:nvPr/>
          </p:nvSpPr>
          <p:spPr>
            <a:xfrm>
              <a:off x="16975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2"/>
            <p:cNvSpPr/>
            <p:nvPr/>
          </p:nvSpPr>
          <p:spPr>
            <a:xfrm>
              <a:off x="16975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2"/>
            <p:cNvSpPr/>
            <p:nvPr/>
          </p:nvSpPr>
          <p:spPr>
            <a:xfrm>
              <a:off x="16975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2"/>
            <p:cNvSpPr/>
            <p:nvPr/>
          </p:nvSpPr>
          <p:spPr>
            <a:xfrm>
              <a:off x="16975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2"/>
            <p:cNvSpPr/>
            <p:nvPr/>
          </p:nvSpPr>
          <p:spPr>
            <a:xfrm>
              <a:off x="16975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2"/>
            <p:cNvSpPr/>
            <p:nvPr/>
          </p:nvSpPr>
          <p:spPr>
            <a:xfrm>
              <a:off x="16975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2"/>
            <p:cNvSpPr/>
            <p:nvPr/>
          </p:nvSpPr>
          <p:spPr>
            <a:xfrm>
              <a:off x="16975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16975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16975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2"/>
            <p:cNvSpPr/>
            <p:nvPr/>
          </p:nvSpPr>
          <p:spPr>
            <a:xfrm>
              <a:off x="1849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2"/>
            <p:cNvSpPr/>
            <p:nvPr/>
          </p:nvSpPr>
          <p:spPr>
            <a:xfrm>
              <a:off x="1849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2"/>
            <p:cNvSpPr/>
            <p:nvPr/>
          </p:nvSpPr>
          <p:spPr>
            <a:xfrm>
              <a:off x="1849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2"/>
            <p:cNvSpPr/>
            <p:nvPr/>
          </p:nvSpPr>
          <p:spPr>
            <a:xfrm>
              <a:off x="1849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1849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1849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1849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1849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1849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1849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1849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1849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1849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1849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1849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20023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20023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20023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20023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2"/>
            <p:cNvSpPr/>
            <p:nvPr/>
          </p:nvSpPr>
          <p:spPr>
            <a:xfrm>
              <a:off x="20023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2"/>
            <p:cNvSpPr/>
            <p:nvPr/>
          </p:nvSpPr>
          <p:spPr>
            <a:xfrm>
              <a:off x="20023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20023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20023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20023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20023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2"/>
            <p:cNvSpPr/>
            <p:nvPr/>
          </p:nvSpPr>
          <p:spPr>
            <a:xfrm>
              <a:off x="20023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2"/>
            <p:cNvSpPr/>
            <p:nvPr/>
          </p:nvSpPr>
          <p:spPr>
            <a:xfrm>
              <a:off x="20023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2"/>
            <p:cNvSpPr/>
            <p:nvPr/>
          </p:nvSpPr>
          <p:spPr>
            <a:xfrm>
              <a:off x="20023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2"/>
            <p:cNvSpPr/>
            <p:nvPr/>
          </p:nvSpPr>
          <p:spPr>
            <a:xfrm>
              <a:off x="20023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2"/>
            <p:cNvSpPr/>
            <p:nvPr/>
          </p:nvSpPr>
          <p:spPr>
            <a:xfrm>
              <a:off x="20023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2"/>
            <p:cNvSpPr/>
            <p:nvPr/>
          </p:nvSpPr>
          <p:spPr>
            <a:xfrm>
              <a:off x="21547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2"/>
            <p:cNvSpPr/>
            <p:nvPr/>
          </p:nvSpPr>
          <p:spPr>
            <a:xfrm>
              <a:off x="21547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2"/>
            <p:cNvSpPr/>
            <p:nvPr/>
          </p:nvSpPr>
          <p:spPr>
            <a:xfrm>
              <a:off x="21547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2"/>
            <p:cNvSpPr/>
            <p:nvPr/>
          </p:nvSpPr>
          <p:spPr>
            <a:xfrm>
              <a:off x="21547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2"/>
            <p:cNvSpPr/>
            <p:nvPr/>
          </p:nvSpPr>
          <p:spPr>
            <a:xfrm>
              <a:off x="21547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2"/>
            <p:cNvSpPr/>
            <p:nvPr/>
          </p:nvSpPr>
          <p:spPr>
            <a:xfrm>
              <a:off x="21547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2"/>
            <p:cNvSpPr/>
            <p:nvPr/>
          </p:nvSpPr>
          <p:spPr>
            <a:xfrm>
              <a:off x="21547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2"/>
            <p:cNvSpPr/>
            <p:nvPr/>
          </p:nvSpPr>
          <p:spPr>
            <a:xfrm>
              <a:off x="21547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2"/>
            <p:cNvSpPr/>
            <p:nvPr/>
          </p:nvSpPr>
          <p:spPr>
            <a:xfrm>
              <a:off x="21547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2"/>
            <p:cNvSpPr/>
            <p:nvPr/>
          </p:nvSpPr>
          <p:spPr>
            <a:xfrm>
              <a:off x="21547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2"/>
            <p:cNvSpPr/>
            <p:nvPr/>
          </p:nvSpPr>
          <p:spPr>
            <a:xfrm>
              <a:off x="21547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2"/>
            <p:cNvSpPr/>
            <p:nvPr/>
          </p:nvSpPr>
          <p:spPr>
            <a:xfrm>
              <a:off x="21547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2"/>
            <p:cNvSpPr/>
            <p:nvPr/>
          </p:nvSpPr>
          <p:spPr>
            <a:xfrm>
              <a:off x="21547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2"/>
            <p:cNvSpPr/>
            <p:nvPr/>
          </p:nvSpPr>
          <p:spPr>
            <a:xfrm>
              <a:off x="21547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2"/>
            <p:cNvSpPr/>
            <p:nvPr/>
          </p:nvSpPr>
          <p:spPr>
            <a:xfrm>
              <a:off x="21547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2"/>
            <p:cNvSpPr/>
            <p:nvPr/>
          </p:nvSpPr>
          <p:spPr>
            <a:xfrm>
              <a:off x="23071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2"/>
            <p:cNvSpPr/>
            <p:nvPr/>
          </p:nvSpPr>
          <p:spPr>
            <a:xfrm>
              <a:off x="23071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2"/>
            <p:cNvSpPr/>
            <p:nvPr/>
          </p:nvSpPr>
          <p:spPr>
            <a:xfrm>
              <a:off x="23071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2"/>
            <p:cNvSpPr/>
            <p:nvPr/>
          </p:nvSpPr>
          <p:spPr>
            <a:xfrm>
              <a:off x="23071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2"/>
            <p:cNvSpPr/>
            <p:nvPr/>
          </p:nvSpPr>
          <p:spPr>
            <a:xfrm>
              <a:off x="23071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2"/>
            <p:cNvSpPr/>
            <p:nvPr/>
          </p:nvSpPr>
          <p:spPr>
            <a:xfrm>
              <a:off x="23071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2"/>
            <p:cNvSpPr/>
            <p:nvPr/>
          </p:nvSpPr>
          <p:spPr>
            <a:xfrm>
              <a:off x="23071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23071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2"/>
            <p:cNvSpPr/>
            <p:nvPr/>
          </p:nvSpPr>
          <p:spPr>
            <a:xfrm>
              <a:off x="23071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2"/>
            <p:cNvSpPr/>
            <p:nvPr/>
          </p:nvSpPr>
          <p:spPr>
            <a:xfrm>
              <a:off x="23071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2"/>
            <p:cNvSpPr/>
            <p:nvPr/>
          </p:nvSpPr>
          <p:spPr>
            <a:xfrm>
              <a:off x="23071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2"/>
            <p:cNvSpPr/>
            <p:nvPr/>
          </p:nvSpPr>
          <p:spPr>
            <a:xfrm>
              <a:off x="23071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2"/>
            <p:cNvSpPr/>
            <p:nvPr/>
          </p:nvSpPr>
          <p:spPr>
            <a:xfrm>
              <a:off x="23071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2"/>
            <p:cNvSpPr/>
            <p:nvPr/>
          </p:nvSpPr>
          <p:spPr>
            <a:xfrm>
              <a:off x="23071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23071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24595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24595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24595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2"/>
            <p:cNvSpPr/>
            <p:nvPr/>
          </p:nvSpPr>
          <p:spPr>
            <a:xfrm>
              <a:off x="24595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2"/>
            <p:cNvSpPr/>
            <p:nvPr/>
          </p:nvSpPr>
          <p:spPr>
            <a:xfrm>
              <a:off x="24595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>
              <a:off x="24595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>
              <a:off x="24595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>
              <a:off x="24595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>
              <a:off x="24595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>
              <a:off x="24595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2"/>
            <p:cNvSpPr/>
            <p:nvPr/>
          </p:nvSpPr>
          <p:spPr>
            <a:xfrm>
              <a:off x="24595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24595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2"/>
            <p:cNvSpPr/>
            <p:nvPr/>
          </p:nvSpPr>
          <p:spPr>
            <a:xfrm>
              <a:off x="24595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2"/>
            <p:cNvSpPr/>
            <p:nvPr/>
          </p:nvSpPr>
          <p:spPr>
            <a:xfrm>
              <a:off x="24595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24595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2611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2611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2611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2611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2"/>
            <p:cNvSpPr/>
            <p:nvPr/>
          </p:nvSpPr>
          <p:spPr>
            <a:xfrm>
              <a:off x="2611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2611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2611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2611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2611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2611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2611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2611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2611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2611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2611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6" name="Google Shape;1126;p22"/>
          <p:cNvSpPr/>
          <p:nvPr/>
        </p:nvSpPr>
        <p:spPr>
          <a:xfrm>
            <a:off x="1765700" y="3219200"/>
            <a:ext cx="6374700" cy="1782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22"/>
          <p:cNvSpPr txBox="1"/>
          <p:nvPr/>
        </p:nvSpPr>
        <p:spPr>
          <a:xfrm>
            <a:off x="2189750" y="3524906"/>
            <a:ext cx="55266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By implementing the suggested measures, Big Dog Craft Brewery can strengthen its defenses against potential threats, protect sensitive data, and ensure the ongoing security and integrity of its operations.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22"/>
          <p:cNvSpPr/>
          <p:nvPr/>
        </p:nvSpPr>
        <p:spPr>
          <a:xfrm>
            <a:off x="929850" y="2010750"/>
            <a:ext cx="4823700" cy="130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3"/>
          <p:cNvSpPr/>
          <p:nvPr/>
        </p:nvSpPr>
        <p:spPr>
          <a:xfrm>
            <a:off x="0" y="3672375"/>
            <a:ext cx="9144000" cy="2124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34" name="Google Shape;1134;p23"/>
          <p:cNvGrpSpPr/>
          <p:nvPr/>
        </p:nvGrpSpPr>
        <p:grpSpPr>
          <a:xfrm>
            <a:off x="7279275" y="107622"/>
            <a:ext cx="1741950" cy="1913012"/>
            <a:chOff x="325900" y="96175"/>
            <a:chExt cx="2322600" cy="2295706"/>
          </a:xfrm>
        </p:grpSpPr>
        <p:sp>
          <p:nvSpPr>
            <p:cNvPr id="1135" name="Google Shape;1135;p23"/>
            <p:cNvSpPr/>
            <p:nvPr/>
          </p:nvSpPr>
          <p:spPr>
            <a:xfrm>
              <a:off x="325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3"/>
            <p:cNvSpPr/>
            <p:nvPr/>
          </p:nvSpPr>
          <p:spPr>
            <a:xfrm>
              <a:off x="325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3"/>
            <p:cNvSpPr/>
            <p:nvPr/>
          </p:nvSpPr>
          <p:spPr>
            <a:xfrm>
              <a:off x="325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3"/>
            <p:cNvSpPr/>
            <p:nvPr/>
          </p:nvSpPr>
          <p:spPr>
            <a:xfrm>
              <a:off x="325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3"/>
            <p:cNvSpPr/>
            <p:nvPr/>
          </p:nvSpPr>
          <p:spPr>
            <a:xfrm>
              <a:off x="325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3"/>
            <p:cNvSpPr/>
            <p:nvPr/>
          </p:nvSpPr>
          <p:spPr>
            <a:xfrm>
              <a:off x="325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3"/>
            <p:cNvSpPr/>
            <p:nvPr/>
          </p:nvSpPr>
          <p:spPr>
            <a:xfrm>
              <a:off x="325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3"/>
            <p:cNvSpPr/>
            <p:nvPr/>
          </p:nvSpPr>
          <p:spPr>
            <a:xfrm>
              <a:off x="325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3"/>
            <p:cNvSpPr/>
            <p:nvPr/>
          </p:nvSpPr>
          <p:spPr>
            <a:xfrm>
              <a:off x="325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3"/>
            <p:cNvSpPr/>
            <p:nvPr/>
          </p:nvSpPr>
          <p:spPr>
            <a:xfrm>
              <a:off x="325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3"/>
            <p:cNvSpPr/>
            <p:nvPr/>
          </p:nvSpPr>
          <p:spPr>
            <a:xfrm>
              <a:off x="325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325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325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325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3"/>
            <p:cNvSpPr/>
            <p:nvPr/>
          </p:nvSpPr>
          <p:spPr>
            <a:xfrm>
              <a:off x="325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3"/>
            <p:cNvSpPr/>
            <p:nvPr/>
          </p:nvSpPr>
          <p:spPr>
            <a:xfrm>
              <a:off x="4783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>
              <a:off x="4783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>
              <a:off x="4783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>
              <a:off x="4783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>
              <a:off x="4783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>
              <a:off x="4783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4783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3"/>
            <p:cNvSpPr/>
            <p:nvPr/>
          </p:nvSpPr>
          <p:spPr>
            <a:xfrm>
              <a:off x="4783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3"/>
            <p:cNvSpPr/>
            <p:nvPr/>
          </p:nvSpPr>
          <p:spPr>
            <a:xfrm>
              <a:off x="4783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3"/>
            <p:cNvSpPr/>
            <p:nvPr/>
          </p:nvSpPr>
          <p:spPr>
            <a:xfrm>
              <a:off x="4783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4783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4783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4783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4783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4783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6307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6307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6307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6307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6307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6307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6307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6307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6307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6307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6307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6307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6307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6307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6307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7831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7831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7831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7831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7831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7831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7831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7831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7831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7831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7831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7831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7831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7831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7831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9355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9355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9355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9355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9355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9355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9355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9355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9355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9355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9355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9355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9355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9355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9355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1087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1087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1087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1087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1087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1087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087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087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087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1087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1087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1087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3"/>
            <p:cNvSpPr/>
            <p:nvPr/>
          </p:nvSpPr>
          <p:spPr>
            <a:xfrm>
              <a:off x="1087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3"/>
            <p:cNvSpPr/>
            <p:nvPr/>
          </p:nvSpPr>
          <p:spPr>
            <a:xfrm>
              <a:off x="1087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3"/>
            <p:cNvSpPr/>
            <p:nvPr/>
          </p:nvSpPr>
          <p:spPr>
            <a:xfrm>
              <a:off x="1087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3"/>
            <p:cNvSpPr/>
            <p:nvPr/>
          </p:nvSpPr>
          <p:spPr>
            <a:xfrm>
              <a:off x="12403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3"/>
            <p:cNvSpPr/>
            <p:nvPr/>
          </p:nvSpPr>
          <p:spPr>
            <a:xfrm>
              <a:off x="12403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3"/>
            <p:cNvSpPr/>
            <p:nvPr/>
          </p:nvSpPr>
          <p:spPr>
            <a:xfrm>
              <a:off x="12403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3"/>
            <p:cNvSpPr/>
            <p:nvPr/>
          </p:nvSpPr>
          <p:spPr>
            <a:xfrm>
              <a:off x="12403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3"/>
            <p:cNvSpPr/>
            <p:nvPr/>
          </p:nvSpPr>
          <p:spPr>
            <a:xfrm>
              <a:off x="12403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3"/>
            <p:cNvSpPr/>
            <p:nvPr/>
          </p:nvSpPr>
          <p:spPr>
            <a:xfrm>
              <a:off x="12403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3"/>
            <p:cNvSpPr/>
            <p:nvPr/>
          </p:nvSpPr>
          <p:spPr>
            <a:xfrm>
              <a:off x="12403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3"/>
            <p:cNvSpPr/>
            <p:nvPr/>
          </p:nvSpPr>
          <p:spPr>
            <a:xfrm>
              <a:off x="12403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3"/>
            <p:cNvSpPr/>
            <p:nvPr/>
          </p:nvSpPr>
          <p:spPr>
            <a:xfrm>
              <a:off x="12403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3"/>
            <p:cNvSpPr/>
            <p:nvPr/>
          </p:nvSpPr>
          <p:spPr>
            <a:xfrm>
              <a:off x="12403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3"/>
            <p:cNvSpPr/>
            <p:nvPr/>
          </p:nvSpPr>
          <p:spPr>
            <a:xfrm>
              <a:off x="12403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3"/>
            <p:cNvSpPr/>
            <p:nvPr/>
          </p:nvSpPr>
          <p:spPr>
            <a:xfrm>
              <a:off x="12403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3"/>
            <p:cNvSpPr/>
            <p:nvPr/>
          </p:nvSpPr>
          <p:spPr>
            <a:xfrm>
              <a:off x="12403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3"/>
            <p:cNvSpPr/>
            <p:nvPr/>
          </p:nvSpPr>
          <p:spPr>
            <a:xfrm>
              <a:off x="12403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3"/>
            <p:cNvSpPr/>
            <p:nvPr/>
          </p:nvSpPr>
          <p:spPr>
            <a:xfrm>
              <a:off x="12403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3"/>
            <p:cNvSpPr/>
            <p:nvPr/>
          </p:nvSpPr>
          <p:spPr>
            <a:xfrm>
              <a:off x="13927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3"/>
            <p:cNvSpPr/>
            <p:nvPr/>
          </p:nvSpPr>
          <p:spPr>
            <a:xfrm>
              <a:off x="13927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3"/>
            <p:cNvSpPr/>
            <p:nvPr/>
          </p:nvSpPr>
          <p:spPr>
            <a:xfrm>
              <a:off x="13927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3"/>
            <p:cNvSpPr/>
            <p:nvPr/>
          </p:nvSpPr>
          <p:spPr>
            <a:xfrm>
              <a:off x="13927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3"/>
            <p:cNvSpPr/>
            <p:nvPr/>
          </p:nvSpPr>
          <p:spPr>
            <a:xfrm>
              <a:off x="13927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3"/>
            <p:cNvSpPr/>
            <p:nvPr/>
          </p:nvSpPr>
          <p:spPr>
            <a:xfrm>
              <a:off x="13927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13927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3"/>
            <p:cNvSpPr/>
            <p:nvPr/>
          </p:nvSpPr>
          <p:spPr>
            <a:xfrm>
              <a:off x="13927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3"/>
            <p:cNvSpPr/>
            <p:nvPr/>
          </p:nvSpPr>
          <p:spPr>
            <a:xfrm>
              <a:off x="13927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3"/>
            <p:cNvSpPr/>
            <p:nvPr/>
          </p:nvSpPr>
          <p:spPr>
            <a:xfrm>
              <a:off x="13927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3"/>
            <p:cNvSpPr/>
            <p:nvPr/>
          </p:nvSpPr>
          <p:spPr>
            <a:xfrm>
              <a:off x="13927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3"/>
            <p:cNvSpPr/>
            <p:nvPr/>
          </p:nvSpPr>
          <p:spPr>
            <a:xfrm>
              <a:off x="13927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3"/>
            <p:cNvSpPr/>
            <p:nvPr/>
          </p:nvSpPr>
          <p:spPr>
            <a:xfrm>
              <a:off x="13927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3"/>
            <p:cNvSpPr/>
            <p:nvPr/>
          </p:nvSpPr>
          <p:spPr>
            <a:xfrm>
              <a:off x="13927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3"/>
            <p:cNvSpPr/>
            <p:nvPr/>
          </p:nvSpPr>
          <p:spPr>
            <a:xfrm>
              <a:off x="13927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3"/>
            <p:cNvSpPr/>
            <p:nvPr/>
          </p:nvSpPr>
          <p:spPr>
            <a:xfrm>
              <a:off x="15451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3"/>
            <p:cNvSpPr/>
            <p:nvPr/>
          </p:nvSpPr>
          <p:spPr>
            <a:xfrm>
              <a:off x="15451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3"/>
            <p:cNvSpPr/>
            <p:nvPr/>
          </p:nvSpPr>
          <p:spPr>
            <a:xfrm>
              <a:off x="15451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3"/>
            <p:cNvSpPr/>
            <p:nvPr/>
          </p:nvSpPr>
          <p:spPr>
            <a:xfrm>
              <a:off x="15451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3"/>
            <p:cNvSpPr/>
            <p:nvPr/>
          </p:nvSpPr>
          <p:spPr>
            <a:xfrm>
              <a:off x="15451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3"/>
            <p:cNvSpPr/>
            <p:nvPr/>
          </p:nvSpPr>
          <p:spPr>
            <a:xfrm>
              <a:off x="15451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3"/>
            <p:cNvSpPr/>
            <p:nvPr/>
          </p:nvSpPr>
          <p:spPr>
            <a:xfrm>
              <a:off x="15451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5451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5451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5451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5451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5451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5451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5451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5451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6975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6975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6975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3"/>
            <p:cNvSpPr/>
            <p:nvPr/>
          </p:nvSpPr>
          <p:spPr>
            <a:xfrm>
              <a:off x="16975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3"/>
            <p:cNvSpPr/>
            <p:nvPr/>
          </p:nvSpPr>
          <p:spPr>
            <a:xfrm>
              <a:off x="16975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3"/>
            <p:cNvSpPr/>
            <p:nvPr/>
          </p:nvSpPr>
          <p:spPr>
            <a:xfrm>
              <a:off x="16975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16975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3"/>
            <p:cNvSpPr/>
            <p:nvPr/>
          </p:nvSpPr>
          <p:spPr>
            <a:xfrm>
              <a:off x="16975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3"/>
            <p:cNvSpPr/>
            <p:nvPr/>
          </p:nvSpPr>
          <p:spPr>
            <a:xfrm>
              <a:off x="16975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3"/>
            <p:cNvSpPr/>
            <p:nvPr/>
          </p:nvSpPr>
          <p:spPr>
            <a:xfrm>
              <a:off x="16975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3"/>
            <p:cNvSpPr/>
            <p:nvPr/>
          </p:nvSpPr>
          <p:spPr>
            <a:xfrm>
              <a:off x="16975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3"/>
            <p:cNvSpPr/>
            <p:nvPr/>
          </p:nvSpPr>
          <p:spPr>
            <a:xfrm>
              <a:off x="16975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3"/>
            <p:cNvSpPr/>
            <p:nvPr/>
          </p:nvSpPr>
          <p:spPr>
            <a:xfrm>
              <a:off x="16975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3"/>
            <p:cNvSpPr/>
            <p:nvPr/>
          </p:nvSpPr>
          <p:spPr>
            <a:xfrm>
              <a:off x="16975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3"/>
            <p:cNvSpPr/>
            <p:nvPr/>
          </p:nvSpPr>
          <p:spPr>
            <a:xfrm>
              <a:off x="16975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1849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1849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1849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1849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1849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1849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1849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1849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1849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1849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3"/>
            <p:cNvSpPr/>
            <p:nvPr/>
          </p:nvSpPr>
          <p:spPr>
            <a:xfrm>
              <a:off x="1849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3"/>
            <p:cNvSpPr/>
            <p:nvPr/>
          </p:nvSpPr>
          <p:spPr>
            <a:xfrm>
              <a:off x="1849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1849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1849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1849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20023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3"/>
            <p:cNvSpPr/>
            <p:nvPr/>
          </p:nvSpPr>
          <p:spPr>
            <a:xfrm>
              <a:off x="20023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3"/>
            <p:cNvSpPr/>
            <p:nvPr/>
          </p:nvSpPr>
          <p:spPr>
            <a:xfrm>
              <a:off x="20023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3"/>
            <p:cNvSpPr/>
            <p:nvPr/>
          </p:nvSpPr>
          <p:spPr>
            <a:xfrm>
              <a:off x="20023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3"/>
            <p:cNvSpPr/>
            <p:nvPr/>
          </p:nvSpPr>
          <p:spPr>
            <a:xfrm>
              <a:off x="20023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3"/>
            <p:cNvSpPr/>
            <p:nvPr/>
          </p:nvSpPr>
          <p:spPr>
            <a:xfrm>
              <a:off x="20023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3"/>
            <p:cNvSpPr/>
            <p:nvPr/>
          </p:nvSpPr>
          <p:spPr>
            <a:xfrm>
              <a:off x="20023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3"/>
            <p:cNvSpPr/>
            <p:nvPr/>
          </p:nvSpPr>
          <p:spPr>
            <a:xfrm>
              <a:off x="20023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3"/>
            <p:cNvSpPr/>
            <p:nvPr/>
          </p:nvSpPr>
          <p:spPr>
            <a:xfrm>
              <a:off x="20023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20023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3"/>
            <p:cNvSpPr/>
            <p:nvPr/>
          </p:nvSpPr>
          <p:spPr>
            <a:xfrm>
              <a:off x="20023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3"/>
            <p:cNvSpPr/>
            <p:nvPr/>
          </p:nvSpPr>
          <p:spPr>
            <a:xfrm>
              <a:off x="20023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3"/>
            <p:cNvSpPr/>
            <p:nvPr/>
          </p:nvSpPr>
          <p:spPr>
            <a:xfrm>
              <a:off x="20023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3"/>
            <p:cNvSpPr/>
            <p:nvPr/>
          </p:nvSpPr>
          <p:spPr>
            <a:xfrm>
              <a:off x="20023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3"/>
            <p:cNvSpPr/>
            <p:nvPr/>
          </p:nvSpPr>
          <p:spPr>
            <a:xfrm>
              <a:off x="20023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3"/>
            <p:cNvSpPr/>
            <p:nvPr/>
          </p:nvSpPr>
          <p:spPr>
            <a:xfrm>
              <a:off x="21547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3"/>
            <p:cNvSpPr/>
            <p:nvPr/>
          </p:nvSpPr>
          <p:spPr>
            <a:xfrm>
              <a:off x="21547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3"/>
            <p:cNvSpPr/>
            <p:nvPr/>
          </p:nvSpPr>
          <p:spPr>
            <a:xfrm>
              <a:off x="21547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21547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21547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21547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21547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21547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21547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21547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21547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21547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21547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3"/>
            <p:cNvSpPr/>
            <p:nvPr/>
          </p:nvSpPr>
          <p:spPr>
            <a:xfrm>
              <a:off x="21547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21547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23071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23071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23071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23071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23071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23071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23071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23071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23071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23071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23071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23071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23071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23071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23071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24595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24595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24595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24595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24595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24595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24595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24595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24595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24595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24595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24595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24595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24595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24595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2611900" y="96175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2611900" y="257540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2611900" y="41890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2611900" y="58026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2611900" y="741634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2611900" y="902999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2611900" y="106436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2611900" y="1225728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2611900" y="1387093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2611900" y="154845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2611900" y="1709822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2611900" y="1871187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2611900" y="203255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2611900" y="2193916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2611900" y="2355281"/>
              <a:ext cx="36600" cy="36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5" name="Google Shape;1375;p23"/>
          <p:cNvSpPr/>
          <p:nvPr/>
        </p:nvSpPr>
        <p:spPr>
          <a:xfrm>
            <a:off x="1644850" y="892925"/>
            <a:ext cx="3756300" cy="36051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23"/>
          <p:cNvSpPr/>
          <p:nvPr/>
        </p:nvSpPr>
        <p:spPr>
          <a:xfrm>
            <a:off x="3942275" y="1709975"/>
            <a:ext cx="3756300" cy="36051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23"/>
          <p:cNvSpPr txBox="1"/>
          <p:nvPr>
            <p:ph type="title"/>
          </p:nvPr>
        </p:nvSpPr>
        <p:spPr>
          <a:xfrm>
            <a:off x="534025" y="2020631"/>
            <a:ext cx="8316000" cy="20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chemeClr val="dk2"/>
                </a:solidFill>
              </a:rPr>
              <a:t>Thank you!</a:t>
            </a:r>
            <a:endParaRPr sz="7500">
              <a:solidFill>
                <a:schemeClr val="dk2"/>
              </a:solidFill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-87275" y="3766550"/>
            <a:ext cx="1943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. </a:t>
            </a:r>
            <a:endParaRPr b="1" sz="11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14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